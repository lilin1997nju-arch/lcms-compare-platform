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7317a4361a4a4e" /><Relationship Type="http://schemas.openxmlformats.org/officeDocument/2006/relationships/extended-properties" Target="/docProps/app.xml" Id="R41955144ac534e88" /><Relationship Type="http://schemas.openxmlformats.org/officeDocument/2006/relationships/officeDocument" Target="/ppt/presentation.xml" Id="Rbbfb07a5a099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be5186dc84069"/>
  </p:sldMasterIdLst>
  <p:notesMasterIdLst>
    <p:notesMasterId xmlns:r="http://schemas.openxmlformats.org/officeDocument/2006/relationships" r:id="R6c3cd6f5b69f43ff"/>
  </p:notesMasterIdLst>
  <p:sldIdLst>
    <p:sldId xmlns:r="http://schemas.openxmlformats.org/officeDocument/2006/relationships" id="256" r:id="R848581da9d28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af7a2c8393492e" /><Relationship Type="http://schemas.openxmlformats.org/officeDocument/2006/relationships/slideMaster" Target="/ppt/slideMasters/slideMaster1.xml" Id="R574be5186dc84069" /><Relationship Type="http://schemas.openxmlformats.org/officeDocument/2006/relationships/notesMaster" Target="/ppt/notesMasters/notesMaster1.xml" Id="R6c3cd6f5b69f43ff" /><Relationship Type="http://schemas.openxmlformats.org/officeDocument/2006/relationships/presProps" Target="/ppt/presProps.xml" Id="R5ffe7b716e0e47b4" /><Relationship Type="http://schemas.openxmlformats.org/officeDocument/2006/relationships/tableStyles" Target="/ppt/tableStyles.xml" Id="R9ad54f9cb820469b" /><Relationship Type="http://schemas.openxmlformats.org/officeDocument/2006/relationships/slide" Target="/ppt/slides/slide1.xml" Id="R848581da9d28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9f683528d5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1e8db2dc94652" /><Relationship Type="http://schemas.openxmlformats.org/officeDocument/2006/relationships/notesMaster" Target="/ppt/notesMasters/notesMaster1.xml" Id="Rfb40b9712e52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项目背景与范围：START_HERE.md；lcms_department_platform/README.md；LC-MS-MS差异组分鉴定推测功能设计.md</a:t>
            </a:r>
          </a:p>
          <a:p xmlns:a="http://schemas.openxmlformats.org/drawingml/2006/main">
            <a:r>
              <a:t>- 平台实测耗时：lcms_department_platform/state/tasks.json（成功任务 2026-08-13：6分22秒；2026-08-12：5分49秒）</a:t>
            </a:r>
          </a:p>
          <a:p xmlns:a="http://schemas.openxmlformats.org/drawingml/2006/main">
            <a:r>
              <a:t>- 数据规模：tasks.json 中两份 RAW 共 897,555,916 bytes，页面取整为约 0.90 GB</a:t>
            </a:r>
          </a:p>
          <a:p xmlns:a="http://schemas.openxmlformats.org/drawingml/2006/main">
            <a:r>
              <a:t>- 业务频次：现有项目未记录月度次数；“按批次/项目触发”作为业务呈现假设，实际月频待确认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7100922a943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b3c09849b4b09" /><Relationship Type="http://schemas.openxmlformats.org/officeDocument/2006/relationships/slideLayout" Target="/ppt/slideLayouts/slideLayout1.xml" Id="R90878e0b8e55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78e0b8e55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91e3c4e80450f" /><Relationship Type="http://schemas.openxmlformats.org/officeDocument/2006/relationships/notesSlide" Target="/ppt/notesSlides/notesSlide1.xml" Id="Re5f5b52384a7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accent-line">
            <a:extLst xmlns:a="http://schemas.openxmlformats.org/drawingml/2006/main">
              <a:ext uri="{FF2B5EF4-FFF2-40B4-BE49-F238E27FC236}">
                <a16:creationId xmlns:a16="http://schemas.microsoft.com/office/drawing/2014/main" id="{39661BF7-A66D-433B-AB09-DA815BF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7D1"/>
          </a:solidFill>
          <a:ln xmlns:a="http://schemas.openxmlformats.org/drawingml/2006/main" w="9525">
            <a:solidFill>
              <a:srgbClr val="2367D1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ABCA7-BE18-4041-B383-A02652C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22033"/>
                </a:solidFill>
              </a:defRPr>
            </a:pPr>
            <a:r>
              <a:rPr sz="3000" b="1">
                <a:solidFill>
                  <a:srgbClr val="122033"/>
                </a:solidFill>
              </a:rPr>
              <a:t>把 LC–MS/MS 差异组分分析变成可追溯的部门流程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4D5302-3BEA-4464-AD7D-CF0CB44B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以 2×Thermo RAW + 已确认序列为输入，自动完成差异发现、候选鉴定、证据分级与报告交付</a:t>
            </a:r>
          </a:p>
        </p:txBody>
      </p:sp>
      <p:sp>
        <p:nvSpPr>
          <p:cNvPr id="4" name="project-tag">
            <a:extLst xmlns:a="http://schemas.openxmlformats.org/drawingml/2006/main">
              <a:ext uri="{FF2B5EF4-FFF2-40B4-BE49-F238E27FC236}">
                <a16:creationId xmlns:a16="http://schemas.microsoft.com/office/drawing/2014/main" id="{1A501FAE-80B5-4846-9239-676AF22F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7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1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367D1"/>
                </a:solidFill>
              </a:defRPr>
            </a:pPr>
            <a:r>
              <a:rPr sz="975" b="1">
                <a:solidFill>
                  <a:srgbClr val="2367D1"/>
                </a:solidFill>
              </a:rPr>
              <a:t>部门内网 / 单机 MVP</a:t>
            </a:r>
          </a:p>
        </p:txBody>
      </p:sp>
      <p:sp>
        <p:nvSpPr>
          <p:cNvPr id="5" name="background-field">
            <a:extLst xmlns:a="http://schemas.openxmlformats.org/drawingml/2006/main">
              <a:ext uri="{FF2B5EF4-FFF2-40B4-BE49-F238E27FC236}">
                <a16:creationId xmlns:a16="http://schemas.microsoft.com/office/drawing/2014/main" id="{71D43B88-D591-46FB-9A82-B88716C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543300" cy="485775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F2F5F8"/>
            </a:solidFill>
            <a:prstDash val="solid"/>
          </a:ln>
        </p:spPr>
      </p:sp>
      <p:sp>
        <p:nvSpPr>
          <p:cNvPr id="6" name="section-01">
            <a:extLst xmlns:a="http://schemas.openxmlformats.org/drawingml/2006/main">
              <a:ext uri="{FF2B5EF4-FFF2-40B4-BE49-F238E27FC236}">
                <a16:creationId xmlns:a16="http://schemas.microsoft.com/office/drawing/2014/main" id="{EEE3CCAB-45CA-4FF3-A41A-5E044500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367D1"/>
                </a:solidFill>
              </a:defRPr>
            </a:pPr>
            <a:r>
              <a:rPr sz="1800" b="1">
                <a:solidFill>
                  <a:srgbClr val="2367D1"/>
                </a:solidFill>
              </a:rPr>
              <a:t>01  背景｜真实业务</a:t>
            </a:r>
          </a:p>
        </p:txBody>
      </p:sp>
      <p:sp>
        <p:nvSpPr>
          <p:cNvPr id="7" name="scenario-label">
            <a:extLst xmlns:a="http://schemas.openxmlformats.org/drawingml/2006/main">
              <a:ext uri="{FF2B5EF4-FFF2-40B4-BE49-F238E27FC236}">
                <a16:creationId xmlns:a16="http://schemas.microsoft.com/office/drawing/2014/main" id="{CC5E7811-3A04-4E6A-95AD-D64D118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</a:defRPr>
            </a:pPr>
            <a:r>
              <a:rPr sz="1275" b="1">
                <a:solidFill>
                  <a:srgbClr val="122033"/>
                </a:solidFill>
              </a:rPr>
              <a:t>要解决的场景</a:t>
            </a:r>
          </a:p>
        </p:txBody>
      </p:sp>
      <p:sp>
        <p:nvSpPr>
          <p:cNvPr id="8" name="scenario-body">
            <a:extLst xmlns:a="http://schemas.openxmlformats.org/drawingml/2006/main">
              <a:ext uri="{FF2B5EF4-FFF2-40B4-BE49-F238E27FC236}">
                <a16:creationId xmlns:a16="http://schemas.microsoft.com/office/drawing/2014/main" id="{9D1F771C-2D96-400F-BC3B-29669544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生物类似药与参照药的肽图对比：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找出差异峰，并判断其是否由氧化、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脱酰胺、截短或序列变体等解释。</a:t>
            </a:r>
          </a:p>
        </p:txBody>
      </p:sp>
      <p:sp>
        <p:nvSpPr>
          <p:cNvPr id="9" name="pain-label">
            <a:extLst xmlns:a="http://schemas.openxmlformats.org/drawingml/2006/main">
              <a:ext uri="{FF2B5EF4-FFF2-40B4-BE49-F238E27FC236}">
                <a16:creationId xmlns:a16="http://schemas.microsoft.com/office/drawing/2014/main" id="{1CA6DEE5-00F3-4597-9CB1-EDA53F1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2033"/>
                </a:solidFill>
              </a:defRPr>
            </a:pPr>
            <a:r>
              <a:rPr sz="1275" b="1">
                <a:solidFill>
                  <a:srgbClr val="122033"/>
                </a:solidFill>
              </a:rPr>
              <a:t>当前痛点</a:t>
            </a:r>
          </a:p>
        </p:txBody>
      </p:sp>
      <p:sp>
        <p:nvSpPr>
          <p:cNvPr id="10" name="pain-body">
            <a:extLst xmlns:a="http://schemas.openxmlformats.org/drawingml/2006/main">
              <a:ext uri="{FF2B5EF4-FFF2-40B4-BE49-F238E27FC236}">
                <a16:creationId xmlns:a16="http://schemas.microsoft.com/office/drawing/2014/main" id="{65880F0F-26A0-43A7-A9C4-D9747AB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RAW 转换、MS1 差异、MS2 关联、序列/PTM 搜索和报告分散在多步工具中；人工逐峰排查易漏、难复现、难交接。</a:t>
            </a:r>
          </a:p>
        </p:txBody>
      </p:sp>
      <p:sp>
        <p:nvSpPr>
          <p:cNvPr id="11" name="cadence">
            <a:extLst xmlns:a="http://schemas.openxmlformats.org/drawingml/2006/main">
              <a:ext uri="{FF2B5EF4-FFF2-40B4-BE49-F238E27FC236}">
                <a16:creationId xmlns:a16="http://schemas.microsoft.com/office/drawing/2014/main" id="{CB9AC0F0-9011-423A-B33D-537FBED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频次｜按批次 / 项目触发（实际月频待确认）</a:t>
            </a:r>
          </a:p>
        </p:txBody>
      </p:sp>
      <p:sp>
        <p:nvSpPr>
          <p:cNvPr id="12" name="runtime-band">
            <a:extLst xmlns:a="http://schemas.openxmlformats.org/drawingml/2006/main">
              <a:ext uri="{FF2B5EF4-FFF2-40B4-BE49-F238E27FC236}">
                <a16:creationId xmlns:a16="http://schemas.microsoft.com/office/drawing/2014/main" id="{9FA8F48E-FCAA-45BE-A6FF-7F85CCE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1623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6345B"/>
          </a:solidFill>
          <a:ln xmlns:a="http://schemas.openxmlformats.org/drawingml/2006/main" w="9525">
            <a:solidFill>
              <a:srgbClr val="16345B"/>
            </a:solidFill>
            <a:prstDash val="solid"/>
          </a:ln>
        </p:spPr>
      </p:sp>
      <p:sp>
        <p:nvSpPr>
          <p:cNvPr id="13" name="runtime-stat">
            <a:extLst xmlns:a="http://schemas.openxmlformats.org/drawingml/2006/main">
              <a:ext uri="{FF2B5EF4-FFF2-40B4-BE49-F238E27FC236}">
                <a16:creationId xmlns:a16="http://schemas.microsoft.com/office/drawing/2014/main" id="{9A374513-F8E7-4FFA-942F-4A624B2B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≈ 6 分钟</a:t>
            </a:r>
          </a:p>
        </p:txBody>
      </p:sp>
      <p:sp>
        <p:nvSpPr>
          <p:cNvPr id="14" name="runtime-label">
            <a:extLst xmlns:a="http://schemas.openxmlformats.org/drawingml/2006/main">
              <a:ext uri="{FF2B5EF4-FFF2-40B4-BE49-F238E27FC236}">
                <a16:creationId xmlns:a16="http://schemas.microsoft.com/office/drawing/2014/main" id="{02D103E4-DDA1-4AD1-AC93-CC585199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530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1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DCEBFF"/>
                </a:solidFill>
              </a:defRPr>
            </a:pPr>
            <a:r>
              <a:rPr sz="1125" b="1">
                <a:solidFill>
                  <a:srgbClr val="DCEBFF"/>
                </a:solidFill>
              </a:rPr>
              <a:t>平台实测 / 任务</a:t>
            </a:r>
          </a:p>
        </p:txBody>
      </p:sp>
      <p:sp>
        <p:nvSpPr>
          <p:cNvPr id="15" name="runtime-detail">
            <a:extLst xmlns:a="http://schemas.openxmlformats.org/drawingml/2006/main">
              <a:ext uri="{FF2B5EF4-FFF2-40B4-BE49-F238E27FC236}">
                <a16:creationId xmlns:a16="http://schemas.microsoft.com/office/drawing/2014/main" id="{1C2AD48B-4BDA-4DD7-9CB2-B052105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2 个 RAW，合计约 0.90 GB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不含实验采集与人工复核</a:t>
            </a:r>
          </a:p>
        </p:txBody>
      </p:sp>
      <p:sp>
        <p:nvSpPr>
          <p:cNvPr id="16" name="section-02">
            <a:extLst xmlns:a="http://schemas.openxmlformats.org/drawingml/2006/main">
              <a:ext uri="{FF2B5EF4-FFF2-40B4-BE49-F238E27FC236}">
                <a16:creationId xmlns:a16="http://schemas.microsoft.com/office/drawing/2014/main" id="{82032FB1-51A7-4D2E-82BA-52323D0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02  计划｜建立端到端证据链</a:t>
            </a:r>
          </a:p>
        </p:txBody>
      </p:sp>
      <p:sp>
        <p:nvSpPr>
          <p:cNvPr id="17" name="plan-note">
            <a:extLst xmlns:a="http://schemas.openxmlformats.org/drawingml/2006/main">
              <a:ext uri="{FF2B5EF4-FFF2-40B4-BE49-F238E27FC236}">
                <a16:creationId xmlns:a16="http://schemas.microsoft.com/office/drawing/2014/main" id="{15F4BE4F-11C4-4F24-A4BD-63EF9971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复用现有 Peak-first 基线，接入 RAW 自动转换与 MS/MS 序列驱动鉴定；所有结论保留证据等级和人工复核入口。</a:t>
            </a:r>
          </a:p>
        </p:txBody>
      </p:sp>
      <p:sp>
        <p:nvSpPr>
          <p:cNvPr id="18" name="pipeline-strip">
            <a:extLst xmlns:a="http://schemas.openxmlformats.org/drawingml/2006/main">
              <a:ext uri="{FF2B5EF4-FFF2-40B4-BE49-F238E27FC236}">
                <a16:creationId xmlns:a16="http://schemas.microsoft.com/office/drawing/2014/main" id="{81C157D5-2A56-401F-9074-3C1099E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71247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EEF5FF"/>
            </a:solidFill>
            <a:prstDash val="solid"/>
          </a:ln>
        </p:spPr>
      </p:sp>
      <p:sp>
        <p:nvSpPr>
          <p:cNvPr id="1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4A05DDFF-DDDA-4977-999D-FC49D51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03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RAW + FASTA</a:t>
            </a:r>
          </a:p>
        </p:txBody>
      </p:sp>
      <p:sp>
        <p:nvSpPr>
          <p:cNvPr id="20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90874461-E2E6-4395-9D7A-E1DF97C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051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上传与版本化</a:t>
            </a:r>
          </a:p>
        </p:txBody>
      </p:sp>
      <p:sp>
        <p:nvSpPr>
          <p:cNvPr id="21" name="stage-1-arrow">
            <a:extLst xmlns:a="http://schemas.openxmlformats.org/drawingml/2006/main">
              <a:ext uri="{FF2B5EF4-FFF2-40B4-BE49-F238E27FC236}">
                <a16:creationId xmlns:a16="http://schemas.microsoft.com/office/drawing/2014/main" id="{54748A7B-A057-4BAD-970B-1EF12818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95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4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367D1"/>
                </a:solidFill>
              </a:defRPr>
            </a:pPr>
            <a:r>
              <a:rPr sz="1575" b="1">
                <a:solidFill>
                  <a:srgbClr val="2367D1"/>
                </a:solidFill>
              </a:rPr>
              <a:t>→</a:t>
            </a:r>
          </a:p>
        </p:txBody>
      </p:sp>
      <p:sp>
        <p:nvSpPr>
          <p:cNvPr id="22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6215FC62-3A35-464F-A981-94FA1C3E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03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RAW → mzML</a:t>
            </a:r>
          </a:p>
        </p:txBody>
      </p:sp>
      <p:sp>
        <p:nvSpPr>
          <p:cNvPr id="23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F025E648-19AD-45BD-A4F6-B2B5101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051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转换 + 数据质控</a:t>
            </a:r>
          </a:p>
        </p:txBody>
      </p:sp>
      <p:sp>
        <p:nvSpPr>
          <p:cNvPr id="24" name="stage-2-arrow">
            <a:extLst xmlns:a="http://schemas.openxmlformats.org/drawingml/2006/main">
              <a:ext uri="{FF2B5EF4-FFF2-40B4-BE49-F238E27FC236}">
                <a16:creationId xmlns:a16="http://schemas.microsoft.com/office/drawing/2014/main" id="{478E00C5-4A5E-4FF5-B931-C6AE0B70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95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4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367D1"/>
                </a:solidFill>
              </a:defRPr>
            </a:pPr>
            <a:r>
              <a:rPr sz="1575" b="1">
                <a:solidFill>
                  <a:srgbClr val="2367D1"/>
                </a:solidFill>
              </a:rPr>
              <a:t>→</a:t>
            </a:r>
          </a:p>
        </p:txBody>
      </p:sp>
      <p:sp>
        <p:nvSpPr>
          <p:cNvPr id="2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55C0CA84-976B-4297-82D5-A7F6B6FB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03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MS1 Peak-first</a:t>
            </a:r>
          </a:p>
        </p:txBody>
      </p:sp>
      <p:sp>
        <p:nvSpPr>
          <p:cNvPr id="26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C0C95E53-A659-4856-8090-AFC4E7BB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051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对齐 + 差异排序</a:t>
            </a:r>
          </a:p>
        </p:txBody>
      </p:sp>
      <p:sp>
        <p:nvSpPr>
          <p:cNvPr id="27" name="stage-3-arrow">
            <a:extLst xmlns:a="http://schemas.openxmlformats.org/drawingml/2006/main">
              <a:ext uri="{FF2B5EF4-FFF2-40B4-BE49-F238E27FC236}">
                <a16:creationId xmlns:a16="http://schemas.microsoft.com/office/drawing/2014/main" id="{7E9473B5-3A69-4375-822F-86D321C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4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367D1"/>
                </a:solidFill>
              </a:defRPr>
            </a:pPr>
            <a:r>
              <a:rPr sz="1575" b="1">
                <a:solidFill>
                  <a:srgbClr val="2367D1"/>
                </a:solidFill>
              </a:rPr>
              <a:t>→</a:t>
            </a:r>
          </a:p>
        </p:txBody>
      </p:sp>
      <p:sp>
        <p:nvSpPr>
          <p:cNvPr id="28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6F413DCD-6B80-47ED-B46B-AAF6DC2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MS/MS 搜索</a:t>
            </a:r>
          </a:p>
        </p:txBody>
      </p:sp>
      <p:sp>
        <p:nvSpPr>
          <p:cNvPr id="29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26D7745D-2C24-4BB2-B83D-F3A42F3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肽段 / PTM / 变体</a:t>
            </a:r>
          </a:p>
        </p:txBody>
      </p:sp>
      <p:sp>
        <p:nvSpPr>
          <p:cNvPr id="30" name="stage-4-arrow">
            <a:extLst xmlns:a="http://schemas.openxmlformats.org/drawingml/2006/main">
              <a:ext uri="{FF2B5EF4-FFF2-40B4-BE49-F238E27FC236}">
                <a16:creationId xmlns:a16="http://schemas.microsoft.com/office/drawing/2014/main" id="{D0288301-F635-4913-A6B8-098502B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95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4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367D1"/>
                </a:solidFill>
              </a:defRPr>
            </a:pPr>
            <a:r>
              <a:rPr sz="1575" b="1">
                <a:solidFill>
                  <a:srgbClr val="2367D1"/>
                </a:solidFill>
              </a:rPr>
              <a:t>→</a:t>
            </a:r>
          </a:p>
        </p:txBody>
      </p:sp>
      <p:sp>
        <p:nvSpPr>
          <p:cNvPr id="31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314A6663-ED9A-44B6-AE29-EDFDA86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032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16345B"/>
                </a:solidFill>
              </a:defRPr>
            </a:pPr>
            <a:r>
              <a:rPr sz="1200" b="1">
                <a:solidFill>
                  <a:srgbClr val="16345B"/>
                </a:solidFill>
              </a:rPr>
              <a:t>证据分级</a:t>
            </a:r>
          </a:p>
        </p:txBody>
      </p:sp>
      <p:sp>
        <p:nvSpPr>
          <p:cNvPr id="32" name="stage-5-detail">
            <a:extLst xmlns:a="http://schemas.openxmlformats.org/drawingml/2006/main">
              <a:ext uri="{FF2B5EF4-FFF2-40B4-BE49-F238E27FC236}">
                <a16:creationId xmlns:a16="http://schemas.microsoft.com/office/drawing/2014/main" id="{D4230674-E8FA-4CCA-9BE0-06244F8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复核 + 报告</a:t>
            </a:r>
          </a:p>
        </p:txBody>
      </p:sp>
      <p:sp>
        <p:nvSpPr>
          <p:cNvPr id="33" name="rule-1">
            <a:extLst xmlns:a="http://schemas.openxmlformats.org/drawingml/2006/main">
              <a:ext uri="{FF2B5EF4-FFF2-40B4-BE49-F238E27FC236}">
                <a16:creationId xmlns:a16="http://schemas.microsoft.com/office/drawing/2014/main" id="{F7BAB51A-4495-4B91-AD36-30570151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712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34" name="section-03">
            <a:extLst xmlns:a="http://schemas.openxmlformats.org/drawingml/2006/main">
              <a:ext uri="{FF2B5EF4-FFF2-40B4-BE49-F238E27FC236}">
                <a16:creationId xmlns:a16="http://schemas.microsoft.com/office/drawing/2014/main" id="{CAB24B2A-3071-412A-B3AD-833C8167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03  预计产出物</a:t>
            </a:r>
          </a:p>
        </p:txBody>
      </p:sp>
      <p:sp>
        <p:nvSpPr>
          <p:cNvPr id="35" name="deliverable-a">
            <a:extLst xmlns:a="http://schemas.openxmlformats.org/drawingml/2006/main">
              <a:ext uri="{FF2B5EF4-FFF2-40B4-BE49-F238E27FC236}">
                <a16:creationId xmlns:a16="http://schemas.microsoft.com/office/drawing/2014/main" id="{CC2F0DB7-1BAD-4558-BEB7-F8A8D50B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339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• 部门任务平台：上传 / 排队 / 重试 / 状态跟踪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• 交互 HTML 与静态离线报告包</a:t>
            </a:r>
          </a:p>
        </p:txBody>
      </p:sp>
      <p:sp>
        <p:nvSpPr>
          <p:cNvPr id="36" name="deliverable-b">
            <a:extLst xmlns:a="http://schemas.openxmlformats.org/drawingml/2006/main">
              <a:ext uri="{FF2B5EF4-FFF2-40B4-BE49-F238E27FC236}">
                <a16:creationId xmlns:a16="http://schemas.microsoft.com/office/drawing/2014/main" id="{9093CF4B-3CA9-4907-9BF8-E904D117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• SQLite + CSV / JSON 结构化证据表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• 参数、序列版本、扫描号与人工结论记录</a:t>
            </a:r>
          </a:p>
        </p:txBody>
      </p:sp>
      <p:sp>
        <p:nvSpPr>
          <p:cNvPr id="37" name="rule-2">
            <a:extLst xmlns:a="http://schemas.openxmlformats.org/drawingml/2006/main">
              <a:ext uri="{FF2B5EF4-FFF2-40B4-BE49-F238E27FC236}">
                <a16:creationId xmlns:a16="http://schemas.microsoft.com/office/drawing/2014/main" id="{505FE682-B5DE-4516-91C3-6CE80EE1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712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38" name="section-04">
            <a:extLst xmlns:a="http://schemas.openxmlformats.org/drawingml/2006/main">
              <a:ext uri="{FF2B5EF4-FFF2-40B4-BE49-F238E27FC236}">
                <a16:creationId xmlns:a16="http://schemas.microsoft.com/office/drawing/2014/main" id="{3DDC9189-A1A5-4A2F-8C52-FCF56F5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91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04  预期效果｜解决的问题</a:t>
            </a:r>
          </a:p>
        </p:txBody>
      </p:sp>
      <p:sp>
        <p:nvSpPr>
          <p:cNvPr id="39" name="effect-a">
            <a:extLst xmlns:a="http://schemas.openxmlformats.org/drawingml/2006/main">
              <a:ext uri="{FF2B5EF4-FFF2-40B4-BE49-F238E27FC236}">
                <a16:creationId xmlns:a16="http://schemas.microsoft.com/office/drawing/2014/main" id="{59D240CF-3100-4AA2-83F4-D6189B8A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0225"/>
            <a:ext cx="339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自动化｜减少 RAW 转换与跨工具拼接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可信度｜区分 MS1 差异、候选与确证</a:t>
            </a:r>
          </a:p>
        </p:txBody>
      </p:sp>
      <p:sp>
        <p:nvSpPr>
          <p:cNvPr id="40" name="effect-b">
            <a:extLst xmlns:a="http://schemas.openxmlformats.org/drawingml/2006/main">
              <a:ext uri="{FF2B5EF4-FFF2-40B4-BE49-F238E27FC236}">
                <a16:creationId xmlns:a16="http://schemas.microsoft.com/office/drawing/2014/main" id="{B7765A67-BDB8-47E1-A0A6-661370E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0225"/>
            <a:ext cx="3486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复用性｜新批次沿用同一参数与报告格式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协作性｜部门内网运行，结果可离线审阅</a:t>
            </a:r>
          </a:p>
        </p:txBody>
      </p:sp>
      <p:sp>
        <p:nvSpPr>
          <p:cNvPr id="41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08ECF7EC-9A5B-479A-A58F-B5F6302D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86500"/>
            <a:ext cx="712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2367D1"/>
                </a:solidFill>
              </a:defRPr>
            </a:pPr>
            <a:r>
              <a:rPr sz="1200" b="1">
                <a:solidFill>
                  <a:srgbClr val="2367D1"/>
                </a:solidFill>
              </a:rPr>
              <a:t>核心改变：人工从“全谱逐峰排查”转为“候选证据复核”，差异不再被强行命名。</a:t>
            </a:r>
          </a:p>
        </p:txBody>
      </p:sp>
    </p:spTree>
    <p:extLst>
      <p:ext uri="{BB962C8B-B14F-4D97-AF65-F5344CB8AC3E}">
        <p14:creationId xmlns:p14="http://schemas.microsoft.com/office/powerpoint/2010/main" val="1913881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2026-08-18T03:50:16.5130000Z</dcterms:created>
  <dcterms:modified xsi:type="dcterms:W3CDTF">2026-08-18T03:50:16.5130000Z</dcterms:modified>
</coreProperties>
</file>